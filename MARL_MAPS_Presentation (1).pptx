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1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6187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0" y="457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Project-III Presentation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Spring Semester AY 2025-26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8595360" cy="36576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73152"/>
            <a:ext cx="320040" cy="320040"/>
          </a:xfrm>
          <a:prstGeom prst="ellipse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73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MARL-MAPS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Multi-Agent Reinforcement Learning for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Dynamic Retrieval-Augmented Generation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514600"/>
            <a:ext cx="25603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B.Tech,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 No: ____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514600"/>
            <a:ext cx="41148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Supervised by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XYZ, Assistant Professor, DoCSE, NIT Delhi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3291840"/>
            <a:ext cx="8595360" cy="36576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3832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National Institute of Technology, Delhi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May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NIT Delhi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18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Index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229600" cy="36576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73152"/>
            <a:ext cx="320040" cy="320040"/>
          </a:xfrm>
          <a:prstGeom prst="ellipse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73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32004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NIT Delhi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85039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4892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C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868680"/>
            <a:ext cx="640080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Framework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Experimentation And Results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 and Future Planning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18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229600" cy="36576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73152"/>
            <a:ext cx="320040" cy="320040"/>
          </a:xfrm>
          <a:prstGeom prst="ellipse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73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32004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NIT Delhi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03920" y="4892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C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749808"/>
            <a:ext cx="8229600" cy="36576"/>
          </a:xfrm>
          <a:prstGeom prst="rect">
            <a:avLst/>
          </a:prstGeom>
          <a:solidFill>
            <a:srgbClr val="E07B20"/>
          </a:solidFill>
          <a:ln w="12700">
            <a:solidFill>
              <a:srgbClr val="E07B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850392"/>
            <a:ext cx="4114800" cy="868680"/>
          </a:xfrm>
          <a:prstGeom prst="rect">
            <a:avLst/>
          </a:prstGeom>
          <a:solidFill>
            <a:srgbClr val="162032"/>
          </a:solidFill>
          <a:ln w="19050">
            <a:solidFill>
              <a:srgbClr val="1A4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" y="932688"/>
            <a:ext cx="548640" cy="704088"/>
          </a:xfrm>
          <a:prstGeom prst="rect">
            <a:avLst/>
          </a:prstGeom>
          <a:solidFill>
            <a:srgbClr val="0D2240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" y="932688"/>
            <a:ext cx="548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6696" y="914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A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96696" y="116128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equips LLMs with verifiable external knowledge to suppress hallucinations and improve factual accuracy.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1773936"/>
            <a:ext cx="4114800" cy="868680"/>
          </a:xfrm>
          <a:prstGeom prst="rect">
            <a:avLst/>
          </a:prstGeom>
          <a:solidFill>
            <a:srgbClr val="162032"/>
          </a:solidFill>
          <a:ln w="19050">
            <a:solidFill>
              <a:srgbClr val="1A4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" y="1856232"/>
            <a:ext cx="548640" cy="704088"/>
          </a:xfrm>
          <a:prstGeom prst="rect">
            <a:avLst/>
          </a:prstGeom>
          <a:solidFill>
            <a:srgbClr val="0D2240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" y="1856232"/>
            <a:ext cx="548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6696" y="18379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A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First-Gen RAG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96696" y="208483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pipelines relied on static, one-shot retrieval — suffering from context overloading and noisy information.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697480"/>
            <a:ext cx="4114800" cy="868680"/>
          </a:xfrm>
          <a:prstGeom prst="rect">
            <a:avLst/>
          </a:prstGeom>
          <a:solidFill>
            <a:srgbClr val="162032"/>
          </a:solidFill>
          <a:ln w="19050">
            <a:solidFill>
              <a:srgbClr val="1A4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" y="2779776"/>
            <a:ext cx="548640" cy="704088"/>
          </a:xfrm>
          <a:prstGeom prst="rect">
            <a:avLst/>
          </a:prstGeom>
          <a:solidFill>
            <a:srgbClr val="0D2240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" y="2779776"/>
            <a:ext cx="548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6696" y="27614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A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MAPS Innovation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96696" y="300837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decomposed RAG into specialized agents: Query Extension, Context Judge, Answer Generator — improving modular reasoning.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621024"/>
            <a:ext cx="4114800" cy="868680"/>
          </a:xfrm>
          <a:prstGeom prst="rect">
            <a:avLst/>
          </a:prstGeom>
          <a:solidFill>
            <a:srgbClr val="1E1008"/>
          </a:solidFill>
          <a:ln w="19050">
            <a:solidFill>
              <a:srgbClr val="CC66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4904" y="3703320"/>
            <a:ext cx="548640" cy="704088"/>
          </a:xfrm>
          <a:prstGeom prst="rect">
            <a:avLst/>
          </a:prstGeom>
          <a:solidFill>
            <a:srgbClr val="3D15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" y="3703320"/>
            <a:ext cx="548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96696" y="36850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Limitation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6696" y="393192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Despite improvements, MAPS remained constrained by a rigid sequential pipeline with binary pass/fail gatekeeping.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17720" y="850392"/>
            <a:ext cx="0" cy="3913632"/>
          </a:xfrm>
          <a:prstGeom prst="line">
            <a:avLst/>
          </a:prstGeom>
          <a:noFill/>
          <a:ln w="12700">
            <a:solidFill>
              <a:srgbClr val="2A3F5A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4709160" y="850392"/>
            <a:ext cx="2057400" cy="3913632"/>
          </a:xfrm>
          <a:prstGeom prst="rect">
            <a:avLst/>
          </a:prstGeom>
          <a:solidFill>
            <a:srgbClr val="101D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450799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RAG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715000" y="1399032"/>
            <a:ext cx="868680" cy="2377440"/>
          </a:xfrm>
          <a:prstGeom prst="roundRect">
            <a:avLst>
              <a:gd name="adj" fmla="val 12632"/>
            </a:avLst>
          </a:prstGeom>
          <a:solidFill>
            <a:srgbClr val="0A1830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2221992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Monolithic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18888" y="1353312"/>
            <a:ext cx="502920" cy="621792"/>
          </a:xfrm>
          <a:prstGeom prst="rect">
            <a:avLst/>
          </a:prstGeom>
          <a:solidFill>
            <a:srgbClr val="1E2E40"/>
          </a:solidFill>
          <a:ln w="9525">
            <a:solidFill>
              <a:srgbClr val="3A5A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73752" y="1463040"/>
            <a:ext cx="320040" cy="54864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73752" y="1554480"/>
            <a:ext cx="320040" cy="54864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73752" y="1645920"/>
            <a:ext cx="320040" cy="54864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73752" y="1737360"/>
            <a:ext cx="320040" cy="54864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73752" y="1655064"/>
            <a:ext cx="502920" cy="621792"/>
          </a:xfrm>
          <a:prstGeom prst="rect">
            <a:avLst/>
          </a:prstGeom>
          <a:solidFill>
            <a:srgbClr val="1E2E40"/>
          </a:solidFill>
          <a:ln w="9525">
            <a:solidFill>
              <a:srgbClr val="3A5A7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28616" y="1764792"/>
            <a:ext cx="320040" cy="54864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28616" y="1856232"/>
            <a:ext cx="320040" cy="54864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28616" y="1947672"/>
            <a:ext cx="320040" cy="54864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28616" y="2039112"/>
            <a:ext cx="320040" cy="54864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28616" y="1965960"/>
            <a:ext cx="502920" cy="621792"/>
          </a:xfrm>
          <a:prstGeom prst="rect">
            <a:avLst/>
          </a:prstGeom>
          <a:solidFill>
            <a:srgbClr val="1E2E40"/>
          </a:solidFill>
          <a:ln w="9525">
            <a:solidFill>
              <a:srgbClr val="3A5A7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83480" y="2075688"/>
            <a:ext cx="320040" cy="54864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83480" y="2167128"/>
            <a:ext cx="320040" cy="54864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83480" y="2258568"/>
            <a:ext cx="320040" cy="54864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83480" y="2350008"/>
            <a:ext cx="320040" cy="54864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67528" y="2276856"/>
            <a:ext cx="347472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4983480" y="2276856"/>
            <a:ext cx="502920" cy="621792"/>
          </a:xfrm>
          <a:prstGeom prst="rect">
            <a:avLst/>
          </a:prstGeom>
          <a:solidFill>
            <a:srgbClr val="1E2E40"/>
          </a:solidFill>
          <a:ln w="9525">
            <a:solidFill>
              <a:srgbClr val="3A5A7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38344" y="2386584"/>
            <a:ext cx="320040" cy="54864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38344" y="2478024"/>
            <a:ext cx="320040" cy="54864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38344" y="2569464"/>
            <a:ext cx="320040" cy="54864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38344" y="2660904"/>
            <a:ext cx="320040" cy="54864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38344" y="2569464"/>
            <a:ext cx="502920" cy="621792"/>
          </a:xfrm>
          <a:prstGeom prst="rect">
            <a:avLst/>
          </a:prstGeom>
          <a:solidFill>
            <a:srgbClr val="1E2E40"/>
          </a:solidFill>
          <a:ln w="9525">
            <a:solidFill>
              <a:srgbClr val="3A5A7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093208" y="2679192"/>
            <a:ext cx="320040" cy="54864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093208" y="2770632"/>
            <a:ext cx="320040" cy="54864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093208" y="2862072"/>
            <a:ext cx="320040" cy="54864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93208" y="2953512"/>
            <a:ext cx="320040" cy="54864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58000" y="850392"/>
            <a:ext cx="2057400" cy="3913632"/>
          </a:xfrm>
          <a:prstGeom prst="rect">
            <a:avLst/>
          </a:prstGeom>
          <a:solidFill>
            <a:srgbClr val="101D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8000" y="450799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Rigidity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539228" y="1124712"/>
            <a:ext cx="694944" cy="694944"/>
          </a:xfrm>
          <a:prstGeom prst="ellipse">
            <a:avLst/>
          </a:prstGeom>
          <a:solidFill>
            <a:srgbClr val="0D2240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39228" y="112471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0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D0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758684" y="1965960"/>
            <a:ext cx="256032" cy="292608"/>
          </a:xfrm>
          <a:prstGeom prst="roundRect">
            <a:avLst>
              <a:gd name="adj" fmla="val 14286"/>
            </a:avLst>
          </a:prstGeom>
          <a:solidFill>
            <a:srgbClr val="1A1A00"/>
          </a:solidFill>
          <a:ln w="19050">
            <a:solidFill>
              <a:srgbClr val="CC99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58684" y="1965960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447788" y="2404872"/>
            <a:ext cx="877824" cy="877824"/>
          </a:xfrm>
          <a:prstGeom prst="ellipse">
            <a:avLst/>
          </a:prstGeom>
          <a:solidFill>
            <a:srgbClr val="1A2A0A"/>
          </a:solidFill>
          <a:ln w="19050">
            <a:solidFill>
              <a:srgbClr val="88CC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47788" y="2404872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AF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AAF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343900" y="2633472"/>
            <a:ext cx="777240" cy="420624"/>
          </a:xfrm>
          <a:prstGeom prst="rect">
            <a:avLst/>
          </a:prstGeom>
          <a:solidFill>
            <a:srgbClr val="0A2030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43900" y="2633472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Answer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539228" y="3593592"/>
            <a:ext cx="694944" cy="694944"/>
          </a:xfrm>
          <a:prstGeom prst="ellipse">
            <a:avLst/>
          </a:prstGeom>
          <a:solidFill>
            <a:srgbClr val="0D2240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39228" y="359359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0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D0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886700" y="1819656"/>
            <a:ext cx="0" cy="146304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7886700" y="2258568"/>
            <a:ext cx="0" cy="146304"/>
          </a:xfrm>
          <a:prstGeom prst="line">
            <a:avLst/>
          </a:prstGeom>
          <a:noFill/>
          <a:ln w="19050">
            <a:solidFill>
              <a:srgbClr val="88CC33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7886700" y="3282696"/>
            <a:ext cx="0" cy="310896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18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(Cont.)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229600" cy="36576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73152"/>
            <a:ext cx="320040" cy="320040"/>
          </a:xfrm>
          <a:prstGeom prst="ellipse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73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32004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NIT Delhi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03920" y="4892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C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749808"/>
            <a:ext cx="8229600" cy="36576"/>
          </a:xfrm>
          <a:prstGeom prst="rect">
            <a:avLst/>
          </a:prstGeom>
          <a:solidFill>
            <a:srgbClr val="E07B20"/>
          </a:solidFill>
          <a:ln w="12700">
            <a:solidFill>
              <a:srgbClr val="E07B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229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MARL-MAPS: The Solution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170432"/>
            <a:ext cx="4160520" cy="850392"/>
          </a:xfrm>
          <a:prstGeom prst="rect">
            <a:avLst/>
          </a:prstGeom>
          <a:solidFill>
            <a:srgbClr val="16203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170432"/>
            <a:ext cx="54864" cy="850392"/>
          </a:xfrm>
          <a:prstGeom prst="rect">
            <a:avLst/>
          </a:prstGeom>
          <a:solidFill>
            <a:srgbClr val="6AADFF"/>
          </a:solidFill>
          <a:ln w="12700">
            <a:solidFill>
              <a:srgbClr val="6AAD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216152"/>
            <a:ext cx="548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33272" y="123444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A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Architecture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33272" y="148132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MARL replaces the rigid pipeline with a learned Orchestrator — a central RL policy modelling workflow as a Dec-POMDP.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075688"/>
            <a:ext cx="4160520" cy="850392"/>
          </a:xfrm>
          <a:prstGeom prst="rect">
            <a:avLst/>
          </a:prstGeom>
          <a:solidFill>
            <a:srgbClr val="16203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075688"/>
            <a:ext cx="54864" cy="8503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121408"/>
            <a:ext cx="548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33272" y="2139696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as Currency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33272" y="238658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broadcast calibrated numerical confidence scores instead of binary decisions, enabling nuanced routing.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980944"/>
            <a:ext cx="4160520" cy="850392"/>
          </a:xfrm>
          <a:prstGeom prst="rect">
            <a:avLst/>
          </a:prstGeom>
          <a:solidFill>
            <a:srgbClr val="16203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980944"/>
            <a:ext cx="54864" cy="8503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026664"/>
            <a:ext cx="548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33272" y="3044952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Orchestrator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33272" y="329184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confidence signals to dynamically route workflows and trigger bi-directional negotiations between agents.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886200"/>
            <a:ext cx="4160520" cy="850392"/>
          </a:xfrm>
          <a:prstGeom prst="rect">
            <a:avLst/>
          </a:prstGeom>
          <a:solidFill>
            <a:srgbClr val="16203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886200"/>
            <a:ext cx="54864" cy="85039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3931920"/>
            <a:ext cx="548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33272" y="3950208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Reward Function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33272" y="419709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Optimizes for final factual accuracy (EM/F1) while applying progressive penalties for unnecessary retrieval latency.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850392"/>
            <a:ext cx="4206240" cy="4160520"/>
          </a:xfrm>
          <a:prstGeom prst="rect">
            <a:avLst/>
          </a:prstGeom>
          <a:solidFill>
            <a:srgbClr val="0A152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9235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MARL-MAPS Ecosystem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53328" y="2638044"/>
            <a:ext cx="1426464" cy="768096"/>
          </a:xfrm>
          <a:prstGeom prst="roundRect">
            <a:avLst>
              <a:gd name="adj" fmla="val 11905"/>
            </a:avLst>
          </a:prstGeom>
          <a:solidFill>
            <a:srgbClr val="001A60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53328" y="2638044"/>
            <a:ext cx="1426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Orchestrator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(MARL Policy)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99632" y="3525012"/>
            <a:ext cx="1133856" cy="420624"/>
          </a:xfrm>
          <a:prstGeom prst="ellipse">
            <a:avLst/>
          </a:prstGeom>
          <a:solidFill>
            <a:srgbClr val="0A1030"/>
          </a:solidFill>
          <a:ln w="19050">
            <a:solidFill>
              <a:srgbClr val="5588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9632" y="3525012"/>
            <a:ext cx="1133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58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SGWM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766560" y="3406140"/>
            <a:ext cx="0" cy="118872"/>
          </a:xfrm>
          <a:prstGeom prst="line">
            <a:avLst/>
          </a:prstGeom>
          <a:noFill/>
          <a:ln w="12700">
            <a:solidFill>
              <a:srgbClr val="5588CC"/>
            </a:solidFill>
            <a:prstDash val="sysDot"/>
          </a:ln>
        </p:spPr>
      </p:sp>
      <p:sp>
        <p:nvSpPr>
          <p:cNvPr id="37" name="Shape 35"/>
          <p:cNvSpPr/>
          <p:nvPr/>
        </p:nvSpPr>
        <p:spPr>
          <a:xfrm>
            <a:off x="5111496" y="1600200"/>
            <a:ext cx="658368" cy="658368"/>
          </a:xfrm>
          <a:prstGeom prst="ellipse">
            <a:avLst/>
          </a:prstGeom>
          <a:solidFill>
            <a:srgbClr val="0A1525"/>
          </a:solidFill>
          <a:ln w="22860">
            <a:solidFill>
              <a:srgbClr val="E07B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11496" y="1600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0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E0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694711" y="2138741"/>
            <a:ext cx="817818" cy="673994"/>
          </a:xfrm>
          <a:prstGeom prst="line">
            <a:avLst/>
          </a:prstGeom>
          <a:noFill/>
          <a:ln w="12700">
            <a:solidFill>
              <a:srgbClr val="E07B20"/>
            </a:solidFill>
            <a:prstDash val="sysDot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216159" y="2777842"/>
            <a:ext cx="0" cy="0"/>
          </a:xfrm>
          <a:prstGeom prst="line">
            <a:avLst/>
          </a:prstGeom>
          <a:noFill/>
          <a:ln w="12700">
            <a:solidFill>
              <a:srgbClr val="E07B20"/>
            </a:solidFill>
            <a:prstDash val="sysDot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111496" y="3355848"/>
            <a:ext cx="658368" cy="658368"/>
          </a:xfrm>
          <a:prstGeom prst="ellipse">
            <a:avLst/>
          </a:prstGeom>
          <a:solidFill>
            <a:srgbClr val="0A1525"/>
          </a:solidFill>
          <a:ln w="22860">
            <a:solidFill>
              <a:srgbClr val="88CC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11496" y="33558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8C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88C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735111" y="3537816"/>
            <a:ext cx="737018" cy="0"/>
          </a:xfrm>
          <a:prstGeom prst="line">
            <a:avLst/>
          </a:prstGeom>
          <a:noFill/>
          <a:ln w="12700">
            <a:solidFill>
              <a:srgbClr val="88CC33"/>
            </a:solidFill>
            <a:prstDash val="sysDot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128626" y="3193843"/>
            <a:ext cx="0" cy="899772"/>
          </a:xfrm>
          <a:prstGeom prst="line">
            <a:avLst/>
          </a:prstGeom>
          <a:noFill/>
          <a:ln w="12700">
            <a:solidFill>
              <a:srgbClr val="88CC33"/>
            </a:solidFill>
            <a:prstDash val="sysDot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580376" y="2441448"/>
            <a:ext cx="658368" cy="658368"/>
          </a:xfrm>
          <a:prstGeom prst="ellipse">
            <a:avLst/>
          </a:prstGeom>
          <a:solidFill>
            <a:srgbClr val="0A1525"/>
          </a:solidFill>
          <a:ln w="22860">
            <a:solidFill>
              <a:srgbClr val="06D6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80376" y="2441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588064" y="2841361"/>
            <a:ext cx="0" cy="110002"/>
          </a:xfrm>
          <a:prstGeom prst="line">
            <a:avLst/>
          </a:prstGeom>
          <a:noFill/>
          <a:ln w="12700">
            <a:solidFill>
              <a:srgbClr val="06D6A0"/>
            </a:solidFill>
            <a:prstDash val="sysDot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463134" y="2939575"/>
            <a:ext cx="1534736" cy="203317"/>
          </a:xfrm>
          <a:prstGeom prst="line">
            <a:avLst/>
          </a:prstGeom>
          <a:noFill/>
          <a:ln w="12700">
            <a:solidFill>
              <a:srgbClr val="06D6A0"/>
            </a:solidFill>
            <a:prstDash val="sysDot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199632" y="2167128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0A1525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0" y="217627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c=0.87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199632" y="3401568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0A1525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34107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c=0.42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525512" y="2532888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0A1525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43800" y="254203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c=0.95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754880" y="475488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B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 Bi-directional Negotiation  |  — Confidence as Currency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18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229600" cy="36576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73152"/>
            <a:ext cx="320040" cy="320040"/>
          </a:xfrm>
          <a:prstGeom prst="ellipse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73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32004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NIT Delhi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03920" y="4892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C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749808"/>
            <a:ext cx="8229600" cy="36576"/>
          </a:xfrm>
          <a:prstGeom prst="rect">
            <a:avLst/>
          </a:prstGeom>
          <a:solidFill>
            <a:srgbClr val="E07B20"/>
          </a:solidFill>
          <a:ln w="12700">
            <a:solidFill>
              <a:srgbClr val="E07B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335024"/>
            <a:ext cx="8092440" cy="0"/>
          </a:xfrm>
          <a:prstGeom prst="line">
            <a:avLst/>
          </a:prstGeom>
          <a:noFill/>
          <a:ln w="25400">
            <a:solidFill>
              <a:srgbClr val="3A5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1133856"/>
            <a:ext cx="402336" cy="402336"/>
          </a:xfrm>
          <a:prstGeom prst="ellipse">
            <a:avLst/>
          </a:prstGeom>
          <a:solidFill>
            <a:srgbClr val="162032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133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52" y="19019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Single-shot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8B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352294" y="1133856"/>
            <a:ext cx="402336" cy="402336"/>
          </a:xfrm>
          <a:prstGeom prst="ellipse">
            <a:avLst/>
          </a:prstGeom>
          <a:solidFill>
            <a:srgbClr val="162032"/>
          </a:solidFill>
          <a:ln w="19050">
            <a:solidFill>
              <a:srgbClr val="5BC0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2294" y="1133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96262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BC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Iter-Retgen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096262" y="19019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8B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375404" y="1133856"/>
            <a:ext cx="402336" cy="402336"/>
          </a:xfrm>
          <a:prstGeom prst="ellipse">
            <a:avLst/>
          </a:prstGeom>
          <a:solidFill>
            <a:srgbClr val="162032"/>
          </a:solidFill>
          <a:ln w="19050">
            <a:solidFill>
              <a:srgbClr val="88CC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75404" y="1133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9372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8C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 RAG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88C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(DRAG)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119372" y="19019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8B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398514" y="1133856"/>
            <a:ext cx="402336" cy="402336"/>
          </a:xfrm>
          <a:prstGeom prst="ellipse">
            <a:avLst/>
          </a:prstGeom>
          <a:solidFill>
            <a:srgbClr val="162032"/>
          </a:solidFill>
          <a:ln w="19050">
            <a:solidFill>
              <a:srgbClr val="E07B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98514" y="1133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42482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E0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142482" y="19019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8B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8421624" y="1133856"/>
            <a:ext cx="402336" cy="402336"/>
          </a:xfrm>
          <a:prstGeom prst="ellipse">
            <a:avLst/>
          </a:prstGeom>
          <a:solidFill>
            <a:srgbClr val="06D6A0"/>
          </a:solidFill>
          <a:ln w="3175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21624" y="1133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65592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MARL-MAPS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(Ours)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165592" y="19019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8B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20040" y="233172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Research Gaps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2606040"/>
            <a:ext cx="4251960" cy="500634"/>
          </a:xfrm>
          <a:prstGeom prst="rect">
            <a:avLst/>
          </a:prstGeom>
          <a:solidFill>
            <a:srgbClr val="162032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606040"/>
            <a:ext cx="45720" cy="50063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606040"/>
            <a:ext cx="384048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2104" y="264261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Tax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2104" y="2834640"/>
            <a:ext cx="3685032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0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systems bloat LLM input with noisy documents, spiking latency.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3143250"/>
            <a:ext cx="4251960" cy="500634"/>
          </a:xfrm>
          <a:prstGeom prst="rect">
            <a:avLst/>
          </a:prstGeom>
          <a:solidFill>
            <a:srgbClr val="162032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3143250"/>
            <a:ext cx="45720" cy="500634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143250"/>
            <a:ext cx="384048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32104" y="317982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Gatekeeping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2104" y="3371850"/>
            <a:ext cx="3685032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0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Pass/fail judges lack nuance for partial-match scenarios.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3680460"/>
            <a:ext cx="4251960" cy="500634"/>
          </a:xfrm>
          <a:prstGeom prst="rect">
            <a:avLst/>
          </a:prstGeom>
          <a:solidFill>
            <a:srgbClr val="162032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3680460"/>
            <a:ext cx="45720" cy="50063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3680460"/>
            <a:ext cx="384048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32104" y="371703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Rigidity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32104" y="3909060"/>
            <a:ext cx="3685032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0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Hardcoded pipelines block adaptive backtracking.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" y="4217670"/>
            <a:ext cx="4251960" cy="500634"/>
          </a:xfrm>
          <a:prstGeom prst="rect">
            <a:avLst/>
          </a:prstGeom>
          <a:solidFill>
            <a:srgbClr val="16203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" y="4217670"/>
            <a:ext cx="45720" cy="50063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217670"/>
            <a:ext cx="384048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32104" y="425424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Global Memory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32104" y="4446270"/>
            <a:ext cx="3685032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0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lack shared context, leading to redundant retrievals.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90872" y="2286000"/>
            <a:ext cx="4251960" cy="2514600"/>
          </a:xfrm>
          <a:prstGeom prst="rect">
            <a:avLst/>
          </a:prstGeom>
          <a:solidFill>
            <a:srgbClr val="0A1525"/>
          </a:solidFill>
          <a:ln w="12700">
            <a:solidFill>
              <a:srgbClr val="3A5A7A"/>
            </a:solidFill>
            <a:prstDash val="solid"/>
          </a:ln>
        </p:spPr>
      </p:sp>
      <p:pic>
        <p:nvPicPr>
          <p:cNvPr id="5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331720"/>
            <a:ext cx="416052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18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229600" cy="36576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73152"/>
            <a:ext cx="320040" cy="320040"/>
          </a:xfrm>
          <a:prstGeom prst="ellipse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73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32004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NIT Delhi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85039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4892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C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822960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800"/>
              </a:spcAft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"Context Tax": Simply appending more retrieved documents into an LLM causes severe latency bottlenecks and increases hallucination risks due to context overloading.</a:t>
            </a:r>
            <a:endParaRPr lang="en-US" sz="1350" dirty="0"/>
          </a:p>
          <a:p>
            <a:pPr>
              <a:spcAft>
                <a:spcPts val="800"/>
              </a:spcAft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Rigidity: Foundational multi-agent frameworks like baseline MAPS rely on strict one-way execution pipelines (Query → Judge → Answer) that prevent adaptive backtracking.</a:t>
            </a:r>
            <a:endParaRPr lang="en-US" sz="1350" dirty="0"/>
          </a:p>
          <a:p>
            <a:pPr>
              <a:spcAft>
                <a:spcPts val="800"/>
              </a:spcAft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of Binary Gates: Current pipelines use rigid "pass/fail" logic for context evaluation, lacking the nuance to handle partial information gaps or conflicting agent signals.</a:t>
            </a:r>
            <a:endParaRPr lang="en-US" sz="1350" dirty="0"/>
          </a:p>
          <a:p>
            <a:pPr>
              <a:spcAft>
                <a:spcPts val="800"/>
              </a:spcAft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Fatal Error Propagation: A single failure in early steps cascades irreversibly through the static, one-shot pipeline — ruining the final factual accuracy.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18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Motivation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229600" cy="36576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73152"/>
            <a:ext cx="320040" cy="320040"/>
          </a:xfrm>
          <a:prstGeom prst="ellipse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73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32004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NIT Delhi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85039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4892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C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91440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FF5EE"/>
          </a:solidFill>
          <a:ln w="19050">
            <a:solidFill>
              <a:srgbClr val="CC6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960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C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Latency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Overload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77440" y="91440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FF5EE"/>
          </a:solidFill>
          <a:ln w="19050">
            <a:solidFill>
              <a:srgbClr val="CC66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960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C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Nuance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377440" y="16002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Gates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91440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FF5EE"/>
          </a:solidFill>
          <a:ln w="19050">
            <a:solidFill>
              <a:srgbClr val="CC6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960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9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Mistakes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06240" y="16002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2423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MARL-MAPS?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2788920"/>
            <a:ext cx="822960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RAG systems suffer from inefficiency under noisy or partial context — a fundamental architectural flaw.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gatekeeping by the Judge agent creates a failure mode with no graceful degradation path.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orchestration with calibrated confidence scoring offers a principled solution to both rigidity and error propagation.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18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229600" cy="36576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73152"/>
            <a:ext cx="320040" cy="320040"/>
          </a:xfrm>
          <a:prstGeom prst="ellipse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73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32004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NIT Delhi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85039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4892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C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896112"/>
            <a:ext cx="3931920" cy="1600200"/>
          </a:xfrm>
          <a:prstGeom prst="rect">
            <a:avLst/>
          </a:prstGeom>
          <a:solidFill>
            <a:srgbClr val="F0F4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61288" y="9875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Architecture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1399032"/>
            <a:ext cx="374904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from a static sequential RAG pipeline to an autonomous MARL Orchestrator.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896112"/>
            <a:ext cx="3931920" cy="1600200"/>
          </a:xfrm>
          <a:prstGeom prst="rect">
            <a:avLst/>
          </a:prstGeom>
          <a:solidFill>
            <a:srgbClr val="FFF5EE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C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13248" y="9875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as Currency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399032"/>
            <a:ext cx="374904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calibrated confidence scoring for bi-directional agent negotiation and micro-retrievals.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2724912"/>
            <a:ext cx="3931920" cy="1600200"/>
          </a:xfrm>
          <a:prstGeom prst="rect">
            <a:avLst/>
          </a:prstGeom>
          <a:solidFill>
            <a:srgbClr val="F0F4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61288" y="28163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Optimization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227832"/>
            <a:ext cx="374904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Formulate a Global Reward Function maximizing factual accuracy (EM/F1) while penalizing latency.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2724912"/>
            <a:ext cx="3931920" cy="1600200"/>
          </a:xfrm>
          <a:prstGeom prst="rect">
            <a:avLst/>
          </a:prstGeom>
          <a:solidFill>
            <a:srgbClr val="FFF5EE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C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13248" y="28163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Efficiency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227832"/>
            <a:ext cx="374904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Utilize Hierarchical Process Rewards (HiPRAG) to reduce redundant over-searching behaviors.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18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Framework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229600" cy="36576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73152"/>
            <a:ext cx="320040" cy="320040"/>
          </a:xfrm>
          <a:prstGeom prst="ellipse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73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32004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NIT Delhi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85039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4892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C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4663440" cy="3886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MARL Orchestrator (Critic): Replaces rigid pipelines with a central RL policy that models the workflow as a Dec-POMDP.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Specialist Agents: Query Extension, Judge, and Answer — each optimized for a distinct subtask.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Global Working Memory (SGWM): Tracks query embedding, evidence pool, interaction trace, and operational latency to prevent context drift.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as Currency: Agents broadcast calibrated numerical confidence scores derived via &lt;CN&gt; and &lt;UN&gt; tokens.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Action Space: The Orchestrator uses confidence scores to route workflows, trigger micro-retrievals, force negotiations, or execute early stops.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0" y="896112"/>
            <a:ext cx="3566160" cy="3840480"/>
          </a:xfrm>
          <a:prstGeom prst="rect">
            <a:avLst/>
          </a:prstGeom>
          <a:solidFill>
            <a:srgbClr val="F8FAFF"/>
          </a:solidFill>
          <a:ln w="12700">
            <a:solidFill>
              <a:srgbClr val="CCDD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450592"/>
            <a:ext cx="1371600" cy="502920"/>
          </a:xfrm>
          <a:prstGeom prst="ellipse">
            <a:avLst/>
          </a:prstGeom>
          <a:solidFill>
            <a:srgbClr val="E8F0FF"/>
          </a:solidFill>
          <a:ln w="15240">
            <a:solidFill>
              <a:srgbClr val="0033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4505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33CC"/>
                </a:solidFill>
              </a:rPr>
              <a:t>SGWM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1078992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0789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Orchestrator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(MARL)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394960" y="2359152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FFF0E0"/>
          </a:solidFill>
          <a:ln w="15240">
            <a:solidFill>
              <a:srgbClr val="CC6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235915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92240" y="3456432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FFF0E0"/>
          </a:solidFill>
          <a:ln w="15240">
            <a:solidFill>
              <a:srgbClr val="CC66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45643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589520" y="2359152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FFF0E0"/>
          </a:solidFill>
          <a:ln w="15240">
            <a:solidFill>
              <a:srgbClr val="CC66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235915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086600" y="20391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= 0.87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49240" y="4233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"Confidence as Currency"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18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Experimentation and Results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229600" cy="36576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73152"/>
            <a:ext cx="320040" cy="320040"/>
          </a:xfrm>
          <a:prstGeom prst="ellipse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73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32004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NIT Delhi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85039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4892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C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914400"/>
            <a:ext cx="1920240" cy="1143000"/>
          </a:xfrm>
          <a:prstGeom prst="rect">
            <a:avLst/>
          </a:prstGeom>
          <a:solidFill>
            <a:srgbClr val="EDFAED"/>
          </a:solidFill>
          <a:ln w="12700">
            <a:solidFill>
              <a:srgbClr val="1A7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960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02920" y="1600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Over-search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87752" y="914400"/>
            <a:ext cx="1920240" cy="1143000"/>
          </a:xfrm>
          <a:prstGeom prst="rect">
            <a:avLst/>
          </a:prstGeom>
          <a:solidFill>
            <a:srgbClr val="EDF2FA"/>
          </a:solidFill>
          <a:ln w="12700">
            <a:solidFill>
              <a:srgbClr val="1A4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960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4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87752" y="1600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VRAM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72584" y="914400"/>
            <a:ext cx="1920240" cy="1143000"/>
          </a:xfrm>
          <a:prstGeom prst="rect">
            <a:avLst/>
          </a:prstGeom>
          <a:solidFill>
            <a:srgbClr val="FAEAEA"/>
          </a:solidFill>
          <a:ln w="12700">
            <a:solidFill>
              <a:srgbClr val="8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72584" y="960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67.2%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72584" y="1600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57416" y="914400"/>
            <a:ext cx="1920240" cy="1143000"/>
          </a:xfrm>
          <a:prstGeom prst="rect">
            <a:avLst/>
          </a:prstGeom>
          <a:solidFill>
            <a:srgbClr val="FAF5E0"/>
          </a:solidFill>
          <a:ln w="12700">
            <a:solidFill>
              <a:srgbClr val="7A5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960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5-8k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57416" y="1600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194560"/>
            <a:ext cx="832104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800"/>
              </a:spcAft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Drastic Over-search Reduction: HiPRAG pruned redundant retrievals — dropping the over-search rate from 27% to just 2.3% (a 91% reduction).</a:t>
            </a:r>
            <a:endParaRPr lang="en-US" sz="1250" dirty="0"/>
          </a:p>
          <a:p>
            <a:pPr>
              <a:spcAft>
                <a:spcPts val="800"/>
              </a:spcAft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Latency: Dynamic Orchestrator reduced inference time from 2.5–4.0s to 1.8–3.2s by eliminating unnecessary data fetching.</a:t>
            </a:r>
            <a:endParaRPr lang="en-US" sz="1250" dirty="0"/>
          </a:p>
          <a:p>
            <a:pPr>
              <a:spcAft>
                <a:spcPts val="800"/>
              </a:spcAft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Efficiency: LoRA-based fine-tuning + GRPO parameter sharing cut GPU VRAM requirements by 60%, enabling deployment at scale.</a:t>
            </a:r>
            <a:endParaRPr lang="en-US" sz="1250" dirty="0"/>
          </a:p>
          <a:p>
            <a:pPr>
              <a:spcAft>
                <a:spcPts val="800"/>
              </a:spcAft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Efficiency: Process-level rewards allowed the MARL policy to converge in 5k–8k training samples vs. 90k for naive baselines.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18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Takeaways and Future Planning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229600" cy="36576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73152"/>
            <a:ext cx="320040" cy="320040"/>
          </a:xfrm>
          <a:prstGeom prst="ellipse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73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32004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NIT Delhi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85039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4892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C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886968"/>
            <a:ext cx="4114800" cy="320040"/>
          </a:xfrm>
          <a:prstGeom prst="rect">
            <a:avLst/>
          </a:prstGeom>
          <a:solidFill>
            <a:srgbClr val="0033CC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886968"/>
            <a:ext cx="41148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Key Takeaways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280160"/>
            <a:ext cx="402336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Orchestration Works: Learned MARL policy successfully balances high factual accuracy with strict latency requirements.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&gt; Binary: Calibrated probability scores enable efficient negotiation and surgical micro-retrievals — significantly outperforming binary gates.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Efficiency: Global Reward Function with HiPRAG dropped over-search rate by 91% while boosting F1 accuracy to over 67.2%.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886968"/>
            <a:ext cx="4114800" cy="320040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886968"/>
            <a:ext cx="41148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Future Planning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1280160"/>
            <a:ext cx="402336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Non-Stationarity: Future iterations will tackle MARL environment non-stationarity — where one agent's strategy updates force continuous adaptation of thresholds in others.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Optimization via SoCo RL: Plan to implement Solo-to-Collaborative RL to reduce the 100–1,000 GPU hours currently required for offline multi-agent training.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18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229600" cy="36576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73152"/>
            <a:ext cx="320040" cy="320040"/>
          </a:xfrm>
          <a:prstGeom prst="ellipse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73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32004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NIT Delhi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85039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4892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C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914400"/>
            <a:ext cx="822960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MAPS Foundation: "Multi-agent System with Individual Optimized Expertise for Retrieval Augmented Generation". OpenReview.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MARL Integration: "LLM Collaboration with Multi-Agent Reinforcement Learning". AAAI Publications.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Confidence Mechanisms: "Learning to Route LLMs with Confidence Tokens". ICML.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Process Optimization: "HiPRAG: Hierarchical Process Rewards for Efficient Agentic Retrieval Augmented Generation". arXiv.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Traceability: "Reinforcement Learning for LLM-based Multi-Agent Systems through Orchestration Traces".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1127</Words>
  <Application>Microsoft Office PowerPoint</Application>
  <PresentationFormat>On-screen Show (16:9)</PresentationFormat>
  <Paragraphs>239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Kumar Priyam</cp:lastModifiedBy>
  <cp:revision>3</cp:revision>
  <dcterms:created xsi:type="dcterms:W3CDTF">2026-05-06T22:02:15Z</dcterms:created>
  <dcterms:modified xsi:type="dcterms:W3CDTF">2026-05-26T19:44:18Z</dcterms:modified>
</cp:coreProperties>
</file>